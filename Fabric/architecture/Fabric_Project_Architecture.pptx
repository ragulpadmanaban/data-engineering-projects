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gul P" initials="RP" lastIdx="1" clrIdx="0">
    <p:extLst>
      <p:ext uri="{19B8F6BF-5375-455C-9EA6-DF929625EA0E}">
        <p15:presenceInfo xmlns:p15="http://schemas.microsoft.com/office/powerpoint/2012/main" userId="88264aa3996a6ce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878"/>
            <a:ext cx="7711440" cy="914082"/>
          </a:xfrm>
        </p:spPr>
        <p:txBody>
          <a:bodyPr>
            <a:noAutofit/>
          </a:bodyPr>
          <a:lstStyle/>
          <a:p>
            <a:r>
              <a:rPr sz="3600" u="sng" dirty="0"/>
              <a:t>Microsoft Fabric Multi</a:t>
            </a:r>
            <a:r>
              <a:rPr lang="en-US" sz="3600" u="sng" dirty="0"/>
              <a:t>-</a:t>
            </a:r>
            <a:r>
              <a:rPr sz="3600" u="sng" dirty="0"/>
              <a:t>cloud 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462880"/>
            <a:ext cx="7188200" cy="5141119"/>
          </a:xfrm>
        </p:spPr>
        <p:txBody>
          <a:bodyPr>
            <a:noAutofit/>
          </a:bodyPr>
          <a:lstStyle/>
          <a:p>
            <a:r>
              <a:rPr lang="en-IN" sz="2000" b="1" dirty="0"/>
              <a:t>S3 / ADLS Source Files</a:t>
            </a:r>
          </a:p>
          <a:p>
            <a:endParaRPr lang="en-IN" sz="2000" b="1" dirty="0"/>
          </a:p>
          <a:p>
            <a:r>
              <a:rPr lang="en-IN" sz="2000" b="1" dirty="0"/>
              <a:t>Fabric Shortcuts</a:t>
            </a:r>
          </a:p>
          <a:p>
            <a:endParaRPr lang="en-IN" sz="2000" b="1" dirty="0"/>
          </a:p>
          <a:p>
            <a:r>
              <a:rPr lang="en-IN" sz="2000" b="1" dirty="0"/>
              <a:t> Bronze Layer (Raw Data Ingestion)</a:t>
            </a:r>
          </a:p>
          <a:p>
            <a:endParaRPr lang="en-IN" sz="2000" b="1" dirty="0"/>
          </a:p>
          <a:p>
            <a:r>
              <a:rPr lang="en-IN" sz="2000" b="1" dirty="0"/>
              <a:t> Silver Layer (Data Cleansing + SCD2)</a:t>
            </a:r>
          </a:p>
          <a:p>
            <a:endParaRPr lang="en-IN" sz="2000" b="1" dirty="0"/>
          </a:p>
          <a:p>
            <a:r>
              <a:rPr lang="en-IN" sz="2000" b="1" dirty="0"/>
              <a:t> Gold Layer (Business Analytics)</a:t>
            </a:r>
          </a:p>
          <a:p>
            <a:endParaRPr lang="en-IN" sz="2000" b="1" dirty="0"/>
          </a:p>
          <a:p>
            <a:r>
              <a:rPr lang="en-IN" sz="2000" b="1" dirty="0"/>
              <a:t> Fabric Warehouse/</a:t>
            </a:r>
            <a:r>
              <a:rPr lang="en-IN" sz="2000" b="1" dirty="0" err="1"/>
              <a:t>LakeHouse</a:t>
            </a:r>
            <a:endParaRPr lang="en-IN" sz="2000" b="1" dirty="0"/>
          </a:p>
          <a:p>
            <a:endParaRPr lang="en-IN" sz="2000" b="1" dirty="0"/>
          </a:p>
          <a:p>
            <a:r>
              <a:rPr lang="en-IN" sz="2000" b="1" dirty="0"/>
              <a:t> Power BI Dashboard</a:t>
            </a:r>
            <a:endParaRPr sz="20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01E8E0-B152-4D91-5D77-A954CC375403}"/>
              </a:ext>
            </a:extLst>
          </p:cNvPr>
          <p:cNvCxnSpPr>
            <a:cxnSpLocks/>
          </p:cNvCxnSpPr>
          <p:nvPr/>
        </p:nvCxnSpPr>
        <p:spPr>
          <a:xfrm>
            <a:off x="2021840" y="1859280"/>
            <a:ext cx="0" cy="314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88657E-5BD4-352D-AD0F-9364A9A0533D}"/>
              </a:ext>
            </a:extLst>
          </p:cNvPr>
          <p:cNvCxnSpPr/>
          <p:nvPr/>
        </p:nvCxnSpPr>
        <p:spPr>
          <a:xfrm>
            <a:off x="2042160" y="26924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D2909B-4D02-90AB-B98B-6EE63DDA9E66}"/>
              </a:ext>
            </a:extLst>
          </p:cNvPr>
          <p:cNvCxnSpPr>
            <a:cxnSpLocks/>
          </p:cNvCxnSpPr>
          <p:nvPr/>
        </p:nvCxnSpPr>
        <p:spPr>
          <a:xfrm>
            <a:off x="2042160" y="335788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038B27-22AD-F9A4-4EAE-0464E7304A55}"/>
              </a:ext>
            </a:extLst>
          </p:cNvPr>
          <p:cNvCxnSpPr/>
          <p:nvPr/>
        </p:nvCxnSpPr>
        <p:spPr>
          <a:xfrm>
            <a:off x="2021840" y="4175760"/>
            <a:ext cx="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AE4E88-7BB9-57DF-994E-1EEBA53BE0C1}"/>
              </a:ext>
            </a:extLst>
          </p:cNvPr>
          <p:cNvCxnSpPr/>
          <p:nvPr/>
        </p:nvCxnSpPr>
        <p:spPr>
          <a:xfrm>
            <a:off x="2042160" y="4815840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67E646-934D-9841-6664-0BCC876293E9}"/>
              </a:ext>
            </a:extLst>
          </p:cNvPr>
          <p:cNvCxnSpPr/>
          <p:nvPr/>
        </p:nvCxnSpPr>
        <p:spPr>
          <a:xfrm>
            <a:off x="2042160" y="5527040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Medallion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Raw Data</a:t>
            </a:r>
            <a:r>
              <a:rPr lang="en-US" dirty="0"/>
              <a:t> (Fabric Shortcuts)</a:t>
            </a:r>
            <a:endParaRPr dirty="0"/>
          </a:p>
          <a:p>
            <a:r>
              <a:rPr dirty="0"/>
              <a:t>   ↓</a:t>
            </a:r>
          </a:p>
          <a:p>
            <a:r>
              <a:rPr dirty="0"/>
              <a:t>Bronze Layer (Raw Ingestion)</a:t>
            </a:r>
          </a:p>
          <a:p>
            <a:r>
              <a:rPr dirty="0"/>
              <a:t>   ↓</a:t>
            </a:r>
          </a:p>
          <a:p>
            <a:r>
              <a:rPr dirty="0"/>
              <a:t>Silver Layer (Transformations + SCD Type 2)</a:t>
            </a:r>
          </a:p>
          <a:p>
            <a:r>
              <a:rPr dirty="0"/>
              <a:t>   ↓</a:t>
            </a:r>
          </a:p>
          <a:p>
            <a:r>
              <a:rPr dirty="0"/>
              <a:t>Gold Layer (Business Analytics Tables)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6C45-428E-BA46-9D97-F1D2F771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6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u="sng" dirty="0"/>
              <a:t>Medallion Architecture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C2E004-D5BB-3F21-0FC4-17CEF315893A}"/>
              </a:ext>
            </a:extLst>
          </p:cNvPr>
          <p:cNvSpPr/>
          <p:nvPr/>
        </p:nvSpPr>
        <p:spPr>
          <a:xfrm>
            <a:off x="3543297" y="1477018"/>
            <a:ext cx="1650998" cy="889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CE6DDC-7061-B61E-D0AE-4BD62BB1137A}"/>
              </a:ext>
            </a:extLst>
          </p:cNvPr>
          <p:cNvSpPr/>
          <p:nvPr/>
        </p:nvSpPr>
        <p:spPr>
          <a:xfrm>
            <a:off x="3591558" y="4217670"/>
            <a:ext cx="1656078" cy="889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 Cleansed SCD Type 2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C06E69-3265-7503-2A49-377BFA98C577}"/>
              </a:ext>
            </a:extLst>
          </p:cNvPr>
          <p:cNvSpPr/>
          <p:nvPr/>
        </p:nvSpPr>
        <p:spPr>
          <a:xfrm>
            <a:off x="3489957" y="2871474"/>
            <a:ext cx="1757679" cy="8407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 Data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C2573E-4DD9-744B-B986-870F11C7C531}"/>
              </a:ext>
            </a:extLst>
          </p:cNvPr>
          <p:cNvSpPr/>
          <p:nvPr/>
        </p:nvSpPr>
        <p:spPr>
          <a:xfrm>
            <a:off x="3591558" y="5612126"/>
            <a:ext cx="1656078" cy="873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 Analytics Reporting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A6AA1C-301E-CA42-F2CA-4C003E0B8BCB}"/>
              </a:ext>
            </a:extLst>
          </p:cNvPr>
          <p:cNvCxnSpPr>
            <a:cxnSpLocks/>
          </p:cNvCxnSpPr>
          <p:nvPr/>
        </p:nvCxnSpPr>
        <p:spPr>
          <a:xfrm>
            <a:off x="4368795" y="2432689"/>
            <a:ext cx="1" cy="372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42289-95E2-5BEA-9D06-A8314324ABA5}"/>
              </a:ext>
            </a:extLst>
          </p:cNvPr>
          <p:cNvCxnSpPr>
            <a:cxnSpLocks/>
          </p:cNvCxnSpPr>
          <p:nvPr/>
        </p:nvCxnSpPr>
        <p:spPr>
          <a:xfrm>
            <a:off x="4368795" y="3836673"/>
            <a:ext cx="0" cy="275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1E4312-1B2C-FDB1-33AF-EC5C6C423F40}"/>
              </a:ext>
            </a:extLst>
          </p:cNvPr>
          <p:cNvCxnSpPr>
            <a:cxnSpLocks/>
          </p:cNvCxnSpPr>
          <p:nvPr/>
        </p:nvCxnSpPr>
        <p:spPr>
          <a:xfrm>
            <a:off x="4439910" y="5212080"/>
            <a:ext cx="0" cy="320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86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F5BB24-CA11-1504-9BB9-BB37014BFEAF}"/>
              </a:ext>
            </a:extLst>
          </p:cNvPr>
          <p:cNvSpPr/>
          <p:nvPr/>
        </p:nvSpPr>
        <p:spPr>
          <a:xfrm>
            <a:off x="3703320" y="291942"/>
            <a:ext cx="204216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Dimensional/Facts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9C4A2D-4019-E299-0A4D-8448DC9C9E7F}"/>
              </a:ext>
            </a:extLst>
          </p:cNvPr>
          <p:cNvSpPr/>
          <p:nvPr/>
        </p:nvSpPr>
        <p:spPr>
          <a:xfrm>
            <a:off x="287020" y="1627347"/>
            <a:ext cx="2334257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Dimcustomer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F09C1-762E-1517-D432-C0BE410A417B}"/>
              </a:ext>
            </a:extLst>
          </p:cNvPr>
          <p:cNvSpPr/>
          <p:nvPr/>
        </p:nvSpPr>
        <p:spPr>
          <a:xfrm>
            <a:off x="3474720" y="3287821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Dimproduct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E22BF-8A9F-9B9C-D5BD-6A5A5C13CF2F}"/>
              </a:ext>
            </a:extLst>
          </p:cNvPr>
          <p:cNvSpPr/>
          <p:nvPr/>
        </p:nvSpPr>
        <p:spPr>
          <a:xfrm>
            <a:off x="3515360" y="1630525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Dimsupplier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4DDD5D-7A82-03E0-F67A-82BDD1F5194C}"/>
              </a:ext>
            </a:extLst>
          </p:cNvPr>
          <p:cNvSpPr/>
          <p:nvPr/>
        </p:nvSpPr>
        <p:spPr>
          <a:xfrm>
            <a:off x="6563365" y="1630525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Dimcategory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1A852-FFAF-9169-64CA-2E2A3636640E}"/>
              </a:ext>
            </a:extLst>
          </p:cNvPr>
          <p:cNvSpPr/>
          <p:nvPr/>
        </p:nvSpPr>
        <p:spPr>
          <a:xfrm>
            <a:off x="3637280" y="4748739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DimInventory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3DF49-FCE3-BA1D-77DA-C378B12E67D2}"/>
              </a:ext>
            </a:extLst>
          </p:cNvPr>
          <p:cNvSpPr/>
          <p:nvPr/>
        </p:nvSpPr>
        <p:spPr>
          <a:xfrm>
            <a:off x="287020" y="3287821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DimOrder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04CC61-364E-D38C-F742-E936A6CB7430}"/>
              </a:ext>
            </a:extLst>
          </p:cNvPr>
          <p:cNvSpPr/>
          <p:nvPr/>
        </p:nvSpPr>
        <p:spPr>
          <a:xfrm>
            <a:off x="289560" y="5963076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FactPayment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0F85CE-BCA5-1F73-86BB-EAD6F2AC02F8}"/>
              </a:ext>
            </a:extLst>
          </p:cNvPr>
          <p:cNvSpPr/>
          <p:nvPr/>
        </p:nvSpPr>
        <p:spPr>
          <a:xfrm>
            <a:off x="289560" y="4676249"/>
            <a:ext cx="2418080" cy="579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FactOrderItem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50E792-C108-EB81-60D5-B1BE4D8FF462}"/>
              </a:ext>
            </a:extLst>
          </p:cNvPr>
          <p:cNvCxnSpPr>
            <a:cxnSpLocks/>
          </p:cNvCxnSpPr>
          <p:nvPr/>
        </p:nvCxnSpPr>
        <p:spPr>
          <a:xfrm>
            <a:off x="1341120" y="2479040"/>
            <a:ext cx="0" cy="650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625B67-D641-7C37-2733-4D1B32788BDC}"/>
              </a:ext>
            </a:extLst>
          </p:cNvPr>
          <p:cNvCxnSpPr/>
          <p:nvPr/>
        </p:nvCxnSpPr>
        <p:spPr>
          <a:xfrm>
            <a:off x="1381760" y="4124960"/>
            <a:ext cx="0" cy="447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1F8E71-96A7-017D-6C80-D40209E1CC26}"/>
              </a:ext>
            </a:extLst>
          </p:cNvPr>
          <p:cNvCxnSpPr/>
          <p:nvPr/>
        </p:nvCxnSpPr>
        <p:spPr>
          <a:xfrm>
            <a:off x="1381760" y="5405120"/>
            <a:ext cx="0" cy="475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B41A131-7673-8BFB-3EEA-1323116F65B8}"/>
              </a:ext>
            </a:extLst>
          </p:cNvPr>
          <p:cNvCxnSpPr/>
          <p:nvPr/>
        </p:nvCxnSpPr>
        <p:spPr>
          <a:xfrm>
            <a:off x="4683760" y="2407920"/>
            <a:ext cx="0" cy="721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12C97BC-75FF-83A9-B867-C19083E286D0}"/>
              </a:ext>
            </a:extLst>
          </p:cNvPr>
          <p:cNvCxnSpPr/>
          <p:nvPr/>
        </p:nvCxnSpPr>
        <p:spPr>
          <a:xfrm>
            <a:off x="2915920" y="1916907"/>
            <a:ext cx="1026160" cy="1110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E9365EB-6CB1-D222-7C8C-D691E2CCB1E2}"/>
              </a:ext>
            </a:extLst>
          </p:cNvPr>
          <p:cNvCxnSpPr/>
          <p:nvPr/>
        </p:nvCxnSpPr>
        <p:spPr>
          <a:xfrm flipH="1">
            <a:off x="5471160" y="1949238"/>
            <a:ext cx="924560" cy="1110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A1CCDCD-B623-9386-ADE3-02A0A3F78839}"/>
              </a:ext>
            </a:extLst>
          </p:cNvPr>
          <p:cNvCxnSpPr/>
          <p:nvPr/>
        </p:nvCxnSpPr>
        <p:spPr>
          <a:xfrm flipH="1">
            <a:off x="2042160" y="3982720"/>
            <a:ext cx="1818640" cy="50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D8F2CAF-1BDC-36CC-BA28-72C6A390B9A7}"/>
              </a:ext>
            </a:extLst>
          </p:cNvPr>
          <p:cNvCxnSpPr>
            <a:cxnSpLocks/>
          </p:cNvCxnSpPr>
          <p:nvPr/>
        </p:nvCxnSpPr>
        <p:spPr>
          <a:xfrm>
            <a:off x="4683760" y="4124960"/>
            <a:ext cx="0" cy="551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02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108</Words>
  <Application>Microsoft Office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Microsoft Fabric Multi-cloud Project Architecture</vt:lpstr>
      <vt:lpstr>Medallion Architecture</vt:lpstr>
      <vt:lpstr>Medallion Architecture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Ragul P</cp:lastModifiedBy>
  <cp:revision>4</cp:revision>
  <dcterms:created xsi:type="dcterms:W3CDTF">2013-01-27T09:14:16Z</dcterms:created>
  <dcterms:modified xsi:type="dcterms:W3CDTF">2026-06-03T12:49:09Z</dcterms:modified>
  <cp:category/>
</cp:coreProperties>
</file>